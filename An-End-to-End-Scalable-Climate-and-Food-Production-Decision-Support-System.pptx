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Kanit"/>
      <p:regular r:id="rId17"/>
    </p:embeddedFont>
    <p:embeddedFont>
      <p:font typeface="Kanit Bold"/>
      <p:regular r:id="rId18"/>
    </p:embeddedFont>
    <p:embeddedFont>
      <p:font typeface="Martel Sans Light"/>
      <p:regular r:id="rId19"/>
    </p:embeddedFont>
    <p:embeddedFont>
      <p:font typeface="Martel Sans Bold"/>
      <p:regular r:id="rId20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71C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00C3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71C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00C3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71C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00C3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71C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00C3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71C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00C3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71C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00C3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71C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00C3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71C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00C3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71C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00C3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71C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00C3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4.png"/><Relationship Id="rId5" Type="http://schemas.openxmlformats.org/officeDocument/2006/relationships/image" Target="../media/image-2-5.svg"/><Relationship Id="rId6" Type="http://schemas.openxmlformats.org/officeDocument/2006/relationships/image" Target="../media/image-2-6.png"/><Relationship Id="rId7" Type="http://schemas.openxmlformats.org/officeDocument/2006/relationships/image" Target="../media/image-2-7.sv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5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svg"/><Relationship Id="rId4" Type="http://schemas.openxmlformats.org/officeDocument/2006/relationships/image" Target="../media/image-7-4.png"/><Relationship Id="rId5" Type="http://schemas.openxmlformats.org/officeDocument/2006/relationships/image" Target="../media/image-7-5.svg"/><Relationship Id="rId6" Type="http://schemas.openxmlformats.org/officeDocument/2006/relationships/image" Target="../media/image-7-6.png"/><Relationship Id="rId7" Type="http://schemas.openxmlformats.org/officeDocument/2006/relationships/image" Target="../media/image-7-7.svg"/><Relationship Id="rId8" Type="http://schemas.openxmlformats.org/officeDocument/2006/relationships/slideLayout" Target="../slideLayouts/slideLayout8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svg"/><Relationship Id="rId4" Type="http://schemas.openxmlformats.org/officeDocument/2006/relationships/image" Target="../media/image-9-4.png"/><Relationship Id="rId5" Type="http://schemas.openxmlformats.org/officeDocument/2006/relationships/image" Target="../media/image-9-5.svg"/><Relationship Id="rId6" Type="http://schemas.openxmlformats.org/officeDocument/2006/relationships/image" Target="../media/image-9-6.png"/><Relationship Id="rId7" Type="http://schemas.openxmlformats.org/officeDocument/2006/relationships/image" Target="../media/image-9-7.svg"/><Relationship Id="rId8" Type="http://schemas.openxmlformats.org/officeDocument/2006/relationships/slideLayout" Target="../slideLayouts/slideLayout10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90910" y="481161"/>
            <a:ext cx="3114080" cy="257994"/>
          </a:xfrm>
          <a:prstGeom prst="roundRect">
            <a:avLst>
              <a:gd name="adj" fmla="val 6524"/>
            </a:avLst>
          </a:prstGeom>
          <a:solidFill>
            <a:srgbClr val="4C0107"/>
          </a:solidFill>
          <a:ln/>
        </p:spPr>
      </p:sp>
      <p:sp>
        <p:nvSpPr>
          <p:cNvPr id="4" name="Text 1"/>
          <p:cNvSpPr/>
          <p:nvPr/>
        </p:nvSpPr>
        <p:spPr>
          <a:xfrm>
            <a:off x="574997" y="523205"/>
            <a:ext cx="3403104" cy="173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8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GRADUATION CAPSTONE · NATIONAL TECH INITIATIVE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490910" y="791691"/>
            <a:ext cx="3757464" cy="412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EcoWater Insights</a:t>
            </a:r>
            <a:endParaRPr lang="en-US" sz="2550" dirty="0"/>
          </a:p>
        </p:txBody>
      </p:sp>
      <p:sp>
        <p:nvSpPr>
          <p:cNvPr id="6" name="Text 3"/>
          <p:cNvSpPr/>
          <p:nvPr/>
        </p:nvSpPr>
        <p:spPr>
          <a:xfrm>
            <a:off x="490910" y="1401366"/>
            <a:ext cx="4733181" cy="2846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An End-to-End Scalable Climate &amp; Food Production Decision Support System</a:t>
            </a:r>
            <a:endParaRPr lang="en-US" sz="3550" dirty="0"/>
          </a:p>
        </p:txBody>
      </p:sp>
      <p:sp>
        <p:nvSpPr>
          <p:cNvPr id="7" name="Text 4"/>
          <p:cNvSpPr/>
          <p:nvPr/>
        </p:nvSpPr>
        <p:spPr>
          <a:xfrm>
            <a:off x="490910" y="4444901"/>
            <a:ext cx="5190381" cy="217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1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Presenter Name · Academic Supervisors · National Initiative Logo · Date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2562" y="325115"/>
            <a:ext cx="1289893" cy="207466"/>
          </a:xfrm>
          <a:prstGeom prst="roundRect">
            <a:avLst>
              <a:gd name="adj" fmla="val 6626"/>
            </a:avLst>
          </a:prstGeom>
          <a:noFill/>
          <a:ln w="4763">
            <a:solidFill>
              <a:srgbClr val="FD50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26009" y="364182"/>
            <a:ext cx="1600200" cy="129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700" dirty="0">
                <a:solidFill>
                  <a:srgbClr val="FD505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RESEARCH BACKGROUND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852562" y="567630"/>
            <a:ext cx="4289896" cy="336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The Climate–Water–Food Nexus</a:t>
            </a:r>
            <a:endParaRPr lang="en-US" sz="21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2562" y="1134591"/>
            <a:ext cx="4737422" cy="268448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74097" y="2072580"/>
            <a:ext cx="2421954" cy="8085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Rising regional temperatures trigger </a:t>
            </a:r>
            <a:pPr algn="l" indent="0" marL="0">
              <a:lnSpc>
                <a:spcPct val="118000"/>
              </a:lnSpc>
              <a:buNone/>
            </a:pPr>
            <a:r>
              <a:rPr lang="en-US" sz="900" b="1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hydrological imbalances</a:t>
            </a:r>
            <a:pPr algn="l"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— accelerated evaporation and soil moisture depletion — driving severe yield volatility across agriculture and aquaculture.</a:t>
            </a:r>
            <a:endParaRPr lang="en-US" sz="9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8274" y="4016276"/>
            <a:ext cx="2435423" cy="80203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24235" y="4145087"/>
            <a:ext cx="1347564" cy="168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Climate Pressure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1024235" y="4366096"/>
            <a:ext cx="2120652" cy="3234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Temperature anomalies disrupt regional water cycles</a:t>
            </a:r>
            <a:endParaRPr lang="en-US" sz="9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47070" y="4016276"/>
            <a:ext cx="2435423" cy="80203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533031" y="4145087"/>
            <a:ext cx="1347564" cy="168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Water Stress</a:t>
            </a:r>
            <a:endParaRPr lang="en-US" sz="1050" dirty="0"/>
          </a:p>
        </p:txBody>
      </p:sp>
      <p:sp>
        <p:nvSpPr>
          <p:cNvPr id="12" name="Text 7"/>
          <p:cNvSpPr/>
          <p:nvPr/>
        </p:nvSpPr>
        <p:spPr>
          <a:xfrm>
            <a:off x="3533031" y="4366096"/>
            <a:ext cx="2120652" cy="3234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Evaporation and soil moisture depletion accelerate</a:t>
            </a:r>
            <a:endParaRPr lang="en-US" sz="9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855866" y="4016276"/>
            <a:ext cx="2435498" cy="80203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041827" y="4145087"/>
            <a:ext cx="1347564" cy="168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Food Security Risk</a:t>
            </a:r>
            <a:endParaRPr lang="en-US" sz="1050" dirty="0"/>
          </a:p>
        </p:txBody>
      </p:sp>
      <p:sp>
        <p:nvSpPr>
          <p:cNvPr id="15" name="Text 9"/>
          <p:cNvSpPr/>
          <p:nvPr/>
        </p:nvSpPr>
        <p:spPr>
          <a:xfrm>
            <a:off x="6041827" y="4366096"/>
            <a:ext cx="2120726" cy="3234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Crop and aquaculture yield volatility intensifies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3577" y="646137"/>
            <a:ext cx="1847404" cy="290661"/>
          </a:xfrm>
          <a:prstGeom prst="roundRect">
            <a:avLst>
              <a:gd name="adj" fmla="val 6177"/>
            </a:avLst>
          </a:prstGeom>
          <a:noFill/>
          <a:ln w="4763">
            <a:solidFill>
              <a:srgbClr val="FD50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18083" y="695771"/>
            <a:ext cx="2115592" cy="191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FD505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STAKEHOLDER FRAMEWORK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23577" y="996628"/>
            <a:ext cx="5389513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Who Benefits From This System</a:t>
            </a:r>
            <a:endParaRPr lang="en-US" sz="27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577" y="1660996"/>
            <a:ext cx="1493044" cy="92273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23577" y="2770733"/>
            <a:ext cx="2034480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Policy Makers &amp; Ministries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523577" y="3080445"/>
            <a:ext cx="2574280" cy="1196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Agriculture, Water Resources, and Environment ministries leverage long-term resource allocation models aligned with national sustainable development goals.</a:t>
            </a:r>
            <a:endParaRPr lang="en-US" sz="11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4860" y="1660996"/>
            <a:ext cx="1493044" cy="92273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284860" y="2770733"/>
            <a:ext cx="2574280" cy="439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Academic Researchers &amp; Climatologists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3284860" y="3300413"/>
            <a:ext cx="2574280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Advanced climate simulation environments enable hypothesis testing, regional modeling, and peer-reviewed research output at scale.</a:t>
            </a:r>
            <a:endParaRPr lang="en-US" sz="11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6143" y="1660996"/>
            <a:ext cx="1493044" cy="92273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046143" y="2770733"/>
            <a:ext cx="2574280" cy="439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Commercial Agritech &amp; Smart AquaGrid</a:t>
            </a:r>
            <a:endParaRPr lang="en-US" sz="1350" dirty="0"/>
          </a:p>
        </p:txBody>
      </p:sp>
      <p:sp>
        <p:nvSpPr>
          <p:cNvPr id="13" name="Text 8"/>
          <p:cNvSpPr/>
          <p:nvPr/>
        </p:nvSpPr>
        <p:spPr>
          <a:xfrm>
            <a:off x="6046143" y="3300413"/>
            <a:ext cx="2574280" cy="1196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Real-time risk mitigation and adaptive farming intelligence for aquaculture operators managing yield exposure under climate variability.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32074" y="331663"/>
            <a:ext cx="1571997" cy="182240"/>
          </a:xfrm>
          <a:prstGeom prst="roundRect">
            <a:avLst>
              <a:gd name="adj" fmla="val 6773"/>
            </a:avLst>
          </a:prstGeom>
          <a:noFill/>
          <a:ln w="4763">
            <a:solidFill>
              <a:srgbClr val="FD50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298525" y="367233"/>
            <a:ext cx="1896294" cy="111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00" dirty="0">
                <a:solidFill>
                  <a:srgbClr val="FD505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DATA ENGINEERING ARCHITECTURE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1232074" y="542181"/>
            <a:ext cx="5802957" cy="3024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End-to-End System Architecture &amp; Data Pipelines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232074" y="1021407"/>
            <a:ext cx="1667247" cy="151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Engineering Lifecycle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232074" y="1252165"/>
            <a:ext cx="205680" cy="1285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D9E1FF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01</a:t>
            </a:r>
            <a:endParaRPr lang="en-US" sz="8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2074" y="1412602"/>
            <a:ext cx="3214390" cy="142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32074" y="1492597"/>
            <a:ext cx="1210047" cy="151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1_data_generator.py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1232074" y="1714500"/>
            <a:ext cx="3214390" cy="2775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8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Parameterized stochastic simulation of climate, water, and food production variables across 190+ countries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232074" y="2139851"/>
            <a:ext cx="205680" cy="1285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D9E1FF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02</a:t>
            </a:r>
            <a:endParaRPr lang="en-US" sz="8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2074" y="2290018"/>
            <a:ext cx="3214390" cy="1428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32074" y="2380283"/>
            <a:ext cx="1641797" cy="151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2_global_spark_processing.py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1232074" y="2602185"/>
            <a:ext cx="3214390" cy="2775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8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Apache Spark distributed processing — cleaning, transformations, schema enforcement, and pipeline scalability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1232074" y="3027536"/>
            <a:ext cx="205680" cy="1285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D9E1FF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03</a:t>
            </a:r>
            <a:endParaRPr lang="en-US" sz="8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2074" y="3167435"/>
            <a:ext cx="3214390" cy="1428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232074" y="3267968"/>
            <a:ext cx="1538660" cy="151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SQL Star Schema Warehouse</a:t>
            </a:r>
            <a:endParaRPr lang="en-US" sz="950" dirty="0"/>
          </a:p>
        </p:txBody>
      </p:sp>
      <p:sp>
        <p:nvSpPr>
          <p:cNvPr id="17" name="Text 12"/>
          <p:cNvSpPr/>
          <p:nvPr/>
        </p:nvSpPr>
        <p:spPr>
          <a:xfrm>
            <a:off x="1232074" y="3489871"/>
            <a:ext cx="3214390" cy="2775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8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OLAP-optimized relational model for sub-second analytical query execution</a:t>
            </a:r>
            <a:endParaRPr lang="en-US" sz="800" dirty="0"/>
          </a:p>
        </p:txBody>
      </p:sp>
      <p:sp>
        <p:nvSpPr>
          <p:cNvPr id="18" name="Text 13"/>
          <p:cNvSpPr/>
          <p:nvPr/>
        </p:nvSpPr>
        <p:spPr>
          <a:xfrm>
            <a:off x="1232074" y="3915221"/>
            <a:ext cx="205680" cy="1285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D9E1FF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04</a:t>
            </a:r>
            <a:endParaRPr lang="en-US" sz="80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2074" y="4044851"/>
            <a:ext cx="3214390" cy="1428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232074" y="4155653"/>
            <a:ext cx="1810345" cy="151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Power BI + Streamlit + Gemini LLM</a:t>
            </a:r>
            <a:endParaRPr lang="en-US" sz="950" dirty="0"/>
          </a:p>
        </p:txBody>
      </p:sp>
      <p:sp>
        <p:nvSpPr>
          <p:cNvPr id="21" name="Text 15"/>
          <p:cNvSpPr/>
          <p:nvPr/>
        </p:nvSpPr>
        <p:spPr>
          <a:xfrm>
            <a:off x="1232074" y="4377556"/>
            <a:ext cx="3214390" cy="2775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8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Unified analytical model, cloud web application, and generative AI inference layer</a:t>
            </a:r>
            <a:endParaRPr lang="en-US" sz="800" dirty="0"/>
          </a:p>
        </p:txBody>
      </p:sp>
      <p:sp>
        <p:nvSpPr>
          <p:cNvPr id="22" name="Shape 16"/>
          <p:cNvSpPr/>
          <p:nvPr/>
        </p:nvSpPr>
        <p:spPr>
          <a:xfrm>
            <a:off x="4702150" y="1071339"/>
            <a:ext cx="3214390" cy="1026319"/>
          </a:xfrm>
          <a:prstGeom prst="roundRect">
            <a:avLst>
              <a:gd name="adj" fmla="val 1503"/>
            </a:avLst>
          </a:prstGeom>
          <a:solidFill>
            <a:srgbClr val="4C0107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4990" y="1169491"/>
            <a:ext cx="160660" cy="128513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068491" y="1126629"/>
            <a:ext cx="1667247" cy="151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📎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 Asset Placeholder</a:t>
            </a:r>
            <a:endParaRPr lang="en-US" sz="950" dirty="0"/>
          </a:p>
        </p:txBody>
      </p:sp>
      <p:sp>
        <p:nvSpPr>
          <p:cNvPr id="25" name="Text 18"/>
          <p:cNvSpPr/>
          <p:nvPr/>
        </p:nvSpPr>
        <p:spPr>
          <a:xfrm>
            <a:off x="5068491" y="1348532"/>
            <a:ext cx="2745209" cy="618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spcAft>
                <a:spcPts val="500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[INSERT SYSTEM ARCHITECTURE / SPARK PIPELINE CLI LOGS IMAGE]</a:t>
            </a:r>
            <a:endParaRPr lang="en-US" sz="800" dirty="0"/>
          </a:p>
          <a:p>
            <a:pPr algn="l" indent="0" marL="0">
              <a:lnSpc>
                <a:spcPct val="113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Embed pipeline execution logs, architecture diagram, or Spark job UI screenshot here.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2724" y="400124"/>
            <a:ext cx="1774999" cy="261938"/>
          </a:xfrm>
          <a:prstGeom prst="roundRect">
            <a:avLst>
              <a:gd name="adj" fmla="val 6319"/>
            </a:avLst>
          </a:prstGeom>
          <a:noFill/>
          <a:ln w="4763">
            <a:solidFill>
              <a:srgbClr val="FD50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0235" y="446261"/>
            <a:ext cx="2057177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FD505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ANALYTICAL DATA MODELING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82724" y="712887"/>
            <a:ext cx="8606954" cy="4056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Relational Data Modeling — The Star Schema Framework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482724" y="1436340"/>
            <a:ext cx="2640732" cy="202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OLAP Warehouse Architecture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82724" y="1766292"/>
            <a:ext cx="3921026" cy="6357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The analytical core is a </a:t>
            </a:r>
            <a:pPr algn="l" indent="0" marL="0">
              <a:lnSpc>
                <a:spcPct val="128000"/>
              </a:lnSpc>
              <a:buNone/>
            </a:pPr>
            <a:r>
              <a:rPr lang="en-US" sz="1050" b="1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Star Schema</a:t>
            </a:r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engineered for sub-second query execution and granular cross-filtering across the full nexus.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745013" y="1452265"/>
            <a:ext cx="3921026" cy="1814364"/>
          </a:xfrm>
          <a:prstGeom prst="roundRect">
            <a:avLst>
              <a:gd name="adj" fmla="val 1140"/>
            </a:avLst>
          </a:prstGeom>
          <a:solidFill>
            <a:srgbClr val="4C0107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82902" y="1620143"/>
            <a:ext cx="215503" cy="17234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236294" y="1613818"/>
            <a:ext cx="2079799" cy="202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📎</a:t>
            </a:r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 Asset Placeholder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236294" y="1943770"/>
            <a:ext cx="3291855" cy="1174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spcAft>
                <a:spcPts val="90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[INSERT POWER BI STAR SCHEMA RELATIONSHIPS DIAGRAM]</a:t>
            </a:r>
            <a:endParaRPr lang="en-US" sz="10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Embed the Power BI model view showing Fact_Global_Nexus connected to Dim_Country and Dim_Time.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82724" y="3552676"/>
            <a:ext cx="2641402" cy="1190699"/>
          </a:xfrm>
          <a:prstGeom prst="roundRect">
            <a:avLst>
              <a:gd name="adj" fmla="val 1738"/>
            </a:avLst>
          </a:prstGeom>
          <a:solidFill>
            <a:srgbClr val="2F2B54"/>
          </a:solidFill>
          <a:ln/>
        </p:spPr>
      </p:sp>
      <p:sp>
        <p:nvSpPr>
          <p:cNvPr id="12" name="Text 9"/>
          <p:cNvSpPr/>
          <p:nvPr/>
        </p:nvSpPr>
        <p:spPr>
          <a:xfrm>
            <a:off x="620613" y="3690565"/>
            <a:ext cx="1622599" cy="202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Fact_Global_Nexus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620613" y="3969693"/>
            <a:ext cx="2365623" cy="4238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Central fact table — multi-sector climate, water, and yield metrics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251225" y="3552676"/>
            <a:ext cx="2641476" cy="1190699"/>
          </a:xfrm>
          <a:prstGeom prst="roundRect">
            <a:avLst>
              <a:gd name="adj" fmla="val 1738"/>
            </a:avLst>
          </a:prstGeom>
          <a:solidFill>
            <a:srgbClr val="2F2B54"/>
          </a:solidFill>
          <a:ln/>
        </p:spPr>
      </p:sp>
      <p:sp>
        <p:nvSpPr>
          <p:cNvPr id="15" name="Text 12"/>
          <p:cNvSpPr/>
          <p:nvPr/>
        </p:nvSpPr>
        <p:spPr>
          <a:xfrm>
            <a:off x="3389114" y="3690565"/>
            <a:ext cx="1622599" cy="202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Dim_Country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3389114" y="3969693"/>
            <a:ext cx="2365697" cy="6357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Geographic dimension enabling regional disaggregation and benchmarking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6019800" y="3552676"/>
            <a:ext cx="2641476" cy="1190699"/>
          </a:xfrm>
          <a:prstGeom prst="roundRect">
            <a:avLst>
              <a:gd name="adj" fmla="val 1738"/>
            </a:avLst>
          </a:prstGeom>
          <a:solidFill>
            <a:srgbClr val="2F2B54"/>
          </a:solidFill>
          <a:ln/>
        </p:spPr>
      </p:sp>
      <p:sp>
        <p:nvSpPr>
          <p:cNvPr id="18" name="Text 15"/>
          <p:cNvSpPr/>
          <p:nvPr/>
        </p:nvSpPr>
        <p:spPr>
          <a:xfrm>
            <a:off x="6157689" y="3690565"/>
            <a:ext cx="1622599" cy="202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Dim_Time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6157689" y="3969693"/>
            <a:ext cx="2365697" cy="4238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Temporal dimension supporting multi-decadal trend analysis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3577" y="581695"/>
            <a:ext cx="1877095" cy="290661"/>
          </a:xfrm>
          <a:prstGeom prst="roundRect">
            <a:avLst>
              <a:gd name="adj" fmla="val 6177"/>
            </a:avLst>
          </a:prstGeom>
          <a:noFill/>
          <a:ln w="4763">
            <a:solidFill>
              <a:srgbClr val="FD50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18083" y="631329"/>
            <a:ext cx="2145283" cy="191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FD505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GLOBAL CLIMATE ANALYTICS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23577" y="932185"/>
            <a:ext cx="8289131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Macro-Level Global Climate &amp; Hydrological Trends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523577" y="1746126"/>
            <a:ext cx="3248323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Multi-Decadal Statistical Validation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23577" y="2115666"/>
            <a:ext cx="3865959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Global temperature anomalies are correlated with precipitation shifts, evaporation rates, and soil moisture trends — validating the statistical model across 190+ countries.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23577" y="3207841"/>
            <a:ext cx="3865959" cy="13015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50" b="1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Temperature Anomaly</a:t>
            </a:r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— upward trajectory (line)</a:t>
            </a:r>
            <a:endParaRPr lang="en-US" sz="115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50" b="1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Precipitation, Evaporation &amp; Soil Moisture</a:t>
            </a:r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— corresponding column metrics</a:t>
            </a:r>
            <a:endParaRPr lang="en-US" sz="115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50" b="1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Statistical Confidence</a:t>
            </a:r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— multi-decadal correlation patterns confirmed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759226" y="1764804"/>
            <a:ext cx="3865959" cy="2064767"/>
          </a:xfrm>
          <a:prstGeom prst="roundRect">
            <a:avLst>
              <a:gd name="adj" fmla="val 1087"/>
            </a:avLst>
          </a:prstGeom>
          <a:solidFill>
            <a:srgbClr val="4C0107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08798" y="1959546"/>
            <a:ext cx="233735" cy="187003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292105" y="1951732"/>
            <a:ext cx="2217316" cy="224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📎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 Asset Placeholder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5292105" y="2326035"/>
            <a:ext cx="3183508" cy="13315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050"/>
              </a:spcAft>
              <a:buNone/>
            </a:pPr>
            <a:r>
              <a:rPr lang="en-US" sz="1150" b="1" dirty="0">
                <a:solidFill>
                  <a:srgbClr val="FFFF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[Global Water Metrics View — INSERT CHART / DASHBOARD SCREENSHOT]</a:t>
            </a: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Embed Power BI line and column chart showing global temperature anomaly vs. water metrics over time.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2724" y="381074"/>
            <a:ext cx="1859384" cy="261938"/>
          </a:xfrm>
          <a:prstGeom prst="roundRect">
            <a:avLst>
              <a:gd name="adj" fmla="val 6319"/>
            </a:avLst>
          </a:prstGeom>
          <a:noFill/>
          <a:ln w="4763">
            <a:solidFill>
              <a:srgbClr val="FD50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0235" y="427211"/>
            <a:ext cx="2141562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FD505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REGIONAL CASE STUDY · EGYPT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82724" y="693837"/>
            <a:ext cx="4737274" cy="4056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Egypt Hydrological Deep Dive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482724" y="1433215"/>
            <a:ext cx="3921026" cy="1814364"/>
          </a:xfrm>
          <a:prstGeom prst="roundRect">
            <a:avLst>
              <a:gd name="adj" fmla="val 1140"/>
            </a:avLst>
          </a:prstGeom>
          <a:solidFill>
            <a:srgbClr val="4C0107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0613" y="1601093"/>
            <a:ext cx="215503" cy="17234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74006" y="1594768"/>
            <a:ext cx="2079799" cy="202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📎</a:t>
            </a:r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 Asset Placeholder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974006" y="1924720"/>
            <a:ext cx="3291855" cy="1174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spcAft>
                <a:spcPts val="90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[Egypt Water Stress Analytics — INSERT DASHBOARD SCREENSHOT]</a:t>
            </a:r>
            <a:endParaRPr lang="en-US" sz="10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Embed Egypt-specific Power BI report page showing evaporation anomalies, water stress indices, and hydrological fluctuations.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745013" y="1417290"/>
            <a:ext cx="2408113" cy="202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Geographic Disaggregation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4745013" y="1747242"/>
            <a:ext cx="3921026" cy="847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Egypt serves as the primary regional case study — a water-scarce nation where climate-driven hydrological fluctuations directly threaten national food security and aquaculture output.</a:t>
            </a:r>
            <a:endParaRPr lang="en-US" sz="10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3674" y="3533626"/>
            <a:ext cx="2660452" cy="122879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6813" y="3690565"/>
            <a:ext cx="1622599" cy="202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Water Stress Index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696813" y="3969693"/>
            <a:ext cx="2270373" cy="6357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Localized evaporation anomalies mapped against historical baselines</a:t>
            </a:r>
            <a:endParaRPr lang="en-US" sz="105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32175" y="3533626"/>
            <a:ext cx="2660526" cy="122879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465314" y="3690565"/>
            <a:ext cx="1781696" cy="202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Hydrological Fluctuation</a:t>
            </a:r>
            <a:endParaRPr lang="en-US" sz="1250" dirty="0"/>
          </a:p>
        </p:txBody>
      </p:sp>
      <p:sp>
        <p:nvSpPr>
          <p:cNvPr id="16" name="Text 11"/>
          <p:cNvSpPr/>
          <p:nvPr/>
        </p:nvSpPr>
        <p:spPr>
          <a:xfrm>
            <a:off x="3465314" y="3969693"/>
            <a:ext cx="2270447" cy="6357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Soil moisture and precipitation response to regional temperature change</a:t>
            </a:r>
            <a:endParaRPr lang="en-US" sz="105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00750" y="3533626"/>
            <a:ext cx="2660526" cy="122879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233889" y="3690565"/>
            <a:ext cx="1895773" cy="202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Climate Change Indicators</a:t>
            </a:r>
            <a:endParaRPr lang="en-US" sz="1250" dirty="0"/>
          </a:p>
        </p:txBody>
      </p:sp>
      <p:sp>
        <p:nvSpPr>
          <p:cNvPr id="19" name="Text 13"/>
          <p:cNvSpPr/>
          <p:nvPr/>
        </p:nvSpPr>
        <p:spPr>
          <a:xfrm>
            <a:off x="6233889" y="3969693"/>
            <a:ext cx="2270447" cy="4238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Multi-decadal trend correlation confirming systemic pressure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4538" y="557659"/>
            <a:ext cx="2074292" cy="256208"/>
          </a:xfrm>
          <a:prstGeom prst="roundRect">
            <a:avLst>
              <a:gd name="adj" fmla="val 6350"/>
            </a:avLst>
          </a:prstGeom>
          <a:noFill/>
          <a:ln w="4763">
            <a:solidFill>
              <a:srgbClr val="FD50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0636" y="603052"/>
            <a:ext cx="2359298" cy="165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850" dirty="0">
                <a:solidFill>
                  <a:srgbClr val="FD505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FOOD SECURITY ANALYTICS · EGYPT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74538" y="862980"/>
            <a:ext cx="8596238" cy="398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Egypt Food Production &amp; Smart AquaGrid Yield Response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74538" y="1584127"/>
            <a:ext cx="3932113" cy="1767632"/>
          </a:xfrm>
          <a:prstGeom prst="roundRect">
            <a:avLst>
              <a:gd name="adj" fmla="val 1151"/>
            </a:avLst>
          </a:prstGeom>
          <a:solidFill>
            <a:srgbClr val="4C0107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0121" y="1744935"/>
            <a:ext cx="211782" cy="16944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57486" y="1740843"/>
            <a:ext cx="2052265" cy="199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📎</a:t>
            </a:r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 Asset Placeholder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957486" y="2063130"/>
            <a:ext cx="3313584" cy="1144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spcAft>
                <a:spcPts val="8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[Egypt Production Analytics — INSERT DASHBOARD SCREENSHOT]</a:t>
            </a:r>
            <a:endParaRPr lang="en-US" sz="1050" dirty="0"/>
          </a:p>
          <a:p>
            <a:pPr algn="l" indent="0" marL="0">
              <a:lnSpc>
                <a:spcPct val="127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Embed Power BI visualization correlating Egypt's temperature anomalies with Wheat, Tomato, and Smart AquaGrid fish production yields.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742111" y="1568797"/>
            <a:ext cx="3207916" cy="199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Socio-Economic Impact Quantification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4742111" y="1891085"/>
            <a:ext cx="3932113" cy="620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Local temperature anomalies are directly quantified against consolidated yield data — translating climate signals into actionable food security intelligence.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74538" y="3628132"/>
            <a:ext cx="4035996" cy="957709"/>
          </a:xfrm>
          <a:prstGeom prst="roundRect">
            <a:avLst>
              <a:gd name="adj" fmla="val 2124"/>
            </a:avLst>
          </a:prstGeom>
          <a:solidFill>
            <a:srgbClr val="2F2B54"/>
          </a:solidFill>
          <a:ln/>
        </p:spPr>
      </p:sp>
      <p:sp>
        <p:nvSpPr>
          <p:cNvPr id="12" name="Text 9"/>
          <p:cNvSpPr/>
          <p:nvPr/>
        </p:nvSpPr>
        <p:spPr>
          <a:xfrm>
            <a:off x="610121" y="3763714"/>
            <a:ext cx="1595065" cy="199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🌾</a:t>
            </a:r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 Strategic Crops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610121" y="4036814"/>
            <a:ext cx="3764831" cy="4134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Wheat and Tomato yield sensitivity modeled against regional temperature anomalies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633392" y="3628132"/>
            <a:ext cx="4036070" cy="957709"/>
          </a:xfrm>
          <a:prstGeom prst="roundRect">
            <a:avLst>
              <a:gd name="adj" fmla="val 2124"/>
            </a:avLst>
          </a:prstGeom>
          <a:solidFill>
            <a:srgbClr val="2F2B54"/>
          </a:solidFill>
          <a:ln/>
        </p:spPr>
      </p:sp>
      <p:sp>
        <p:nvSpPr>
          <p:cNvPr id="15" name="Text 12"/>
          <p:cNvSpPr/>
          <p:nvPr/>
        </p:nvSpPr>
        <p:spPr>
          <a:xfrm>
            <a:off x="4768974" y="3763714"/>
            <a:ext cx="1595065" cy="199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🐟</a:t>
            </a:r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 Smart AquaGrid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4768974" y="4036814"/>
            <a:ext cx="3764905" cy="4134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Aquaculture production dynamics correlated with hydrological stress indicators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9095" y="432048"/>
            <a:ext cx="1755874" cy="273174"/>
          </a:xfrm>
          <a:prstGeom prst="roundRect">
            <a:avLst>
              <a:gd name="adj" fmla="val 6264"/>
            </a:avLst>
          </a:prstGeom>
          <a:noFill/>
          <a:ln w="4763">
            <a:solidFill>
              <a:srgbClr val="FD50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9359" y="479524"/>
            <a:ext cx="2032546" cy="1782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FD505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UNIFIED DECISION SUPPORT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9095" y="759544"/>
            <a:ext cx="6264994" cy="419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Consolidated Decision Support System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99095" y="1518642"/>
            <a:ext cx="2663354" cy="209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Unified Executive Intelligence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99095" y="1864147"/>
            <a:ext cx="3898999" cy="1113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A single Power BI model enables stakeholders to </a:t>
            </a:r>
            <a:pPr algn="l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cross-filter the entire Climate–Water–Food Nexus simultaneously</a:t>
            </a:r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for Egypt — instantly visualizing cause-and-effect patterns across climate drivers, water stress, and food production outcomes.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0668" y="1535609"/>
            <a:ext cx="3898999" cy="1910804"/>
          </a:xfrm>
          <a:prstGeom prst="roundRect">
            <a:avLst>
              <a:gd name="adj" fmla="val 1119"/>
            </a:avLst>
          </a:prstGeom>
          <a:solidFill>
            <a:srgbClr val="4C0107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3246" y="1713086"/>
            <a:ext cx="222796" cy="17822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258619" y="1707133"/>
            <a:ext cx="2134791" cy="209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📎</a:t>
            </a:r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 Asset Placeholder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258619" y="2052637"/>
            <a:ext cx="3248471" cy="12358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95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[Consolidated Executive Nexus View — INSERT DASHBOARD SCREENSHOT]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Embed the full unified Power BI executive dashboard showing all nexus dimensions for Egypt.</a:t>
            </a:r>
            <a:endParaRPr lang="en-US" sz="11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2524" y="3756533"/>
            <a:ext cx="213866" cy="21386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62471" y="3752106"/>
            <a:ext cx="2059112" cy="209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Cross-Filter Any Dimension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962471" y="4043214"/>
            <a:ext cx="2138586" cy="4454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Country, time period, crop type, or water metric — instantly</a:t>
            </a:r>
            <a:endParaRPr lang="en-US" sz="11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24374" y="3756533"/>
            <a:ext cx="213866" cy="21386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734321" y="3752106"/>
            <a:ext cx="2031876" cy="209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Cause-and-Effect Visibility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3734321" y="4043214"/>
            <a:ext cx="2138660" cy="4454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Temperature → Water Stress → Yield impact in one view</a:t>
            </a:r>
            <a:endParaRPr lang="en-US" sz="11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96298" y="3756533"/>
            <a:ext cx="213866" cy="21386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506245" y="3752106"/>
            <a:ext cx="1841227" cy="209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Executive-Ready Output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6506245" y="4043214"/>
            <a:ext cx="2138660" cy="6681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Policy-grade visualizations for ministry and board-level decisions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0910" y="434504"/>
            <a:ext cx="1913558" cy="267519"/>
          </a:xfrm>
          <a:prstGeom prst="roundRect">
            <a:avLst>
              <a:gd name="adj" fmla="val 6292"/>
            </a:avLst>
          </a:prstGeom>
          <a:noFill/>
          <a:ln w="4763">
            <a:solidFill>
              <a:srgbClr val="FD50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9760" y="481310"/>
            <a:ext cx="2193057" cy="173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850" dirty="0">
                <a:solidFill>
                  <a:srgbClr val="FD505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SCALABILITY &amp; BENCHMARKING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0910" y="754559"/>
            <a:ext cx="7276654" cy="412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Platform Agility &amp; International Benchmarking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490910" y="1512094"/>
            <a:ext cx="3910012" cy="1862807"/>
          </a:xfrm>
          <a:prstGeom prst="roundRect">
            <a:avLst>
              <a:gd name="adj" fmla="val 1129"/>
            </a:avLst>
          </a:prstGeom>
          <a:solidFill>
            <a:srgbClr val="4C0107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1106" y="1682353"/>
            <a:ext cx="219149" cy="175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90451" y="1678632"/>
            <a:ext cx="2107332" cy="206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📎</a:t>
            </a:r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 Asset Placeholder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990451" y="2016398"/>
            <a:ext cx="3270275" cy="12051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spcAft>
                <a:spcPts val="9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[Global Partners Benchmarking — INSERT DASHBOARD SCREENSHOT]</a:t>
            </a:r>
            <a:endParaRPr lang="en-US" sz="1100" dirty="0"/>
          </a:p>
          <a:p>
            <a:pPr algn="l" indent="0" marL="0">
              <a:lnSpc>
                <a:spcPct val="129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Embed Power BI cross-country comparison view: Egypt vs. Australia, China, and Brazil climate-production patterns.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747840" y="1495723"/>
            <a:ext cx="3519636" cy="206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Enterprise-Grade Architectural Versatility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4747840" y="1833488"/>
            <a:ext cx="3910012" cy="8694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1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The data model transitions to </a:t>
            </a:r>
            <a:pPr algn="l" indent="0" marL="0">
              <a:lnSpc>
                <a:spcPct val="129000"/>
              </a:lnSpc>
              <a:buNone/>
            </a:pPr>
            <a:r>
              <a:rPr lang="en-US" sz="1100" b="1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cross-country benchmarking with a single click</a:t>
            </a:r>
            <a:pPr algn="l" indent="0" marL="0">
              <a:lnSpc>
                <a:spcPct val="129000"/>
              </a:lnSpc>
              <a:buNone/>
            </a:pPr>
            <a:r>
              <a:rPr lang="en-US" sz="11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— no re-engineering required. Egypt's climate-production patterns are instantly comparable against international states.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90910" y="3670622"/>
            <a:ext cx="2633067" cy="1038374"/>
          </a:xfrm>
          <a:prstGeom prst="roundRect">
            <a:avLst>
              <a:gd name="adj" fmla="val 2026"/>
            </a:avLst>
          </a:prstGeom>
          <a:solidFill>
            <a:srgbClr val="100C35"/>
          </a:solidFill>
          <a:ln w="19050">
            <a:solidFill>
              <a:srgbClr val="48446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0156" y="3829869"/>
            <a:ext cx="1650132" cy="206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🇦🇺</a:t>
            </a:r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 Australia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650156" y="4115023"/>
            <a:ext cx="2314575" cy="434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1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Arid-zone agricultural stress benchmark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255466" y="3670622"/>
            <a:ext cx="2633067" cy="1038374"/>
          </a:xfrm>
          <a:prstGeom prst="roundRect">
            <a:avLst>
              <a:gd name="adj" fmla="val 2026"/>
            </a:avLst>
          </a:prstGeom>
          <a:solidFill>
            <a:srgbClr val="100C35"/>
          </a:solidFill>
          <a:ln w="19050">
            <a:solidFill>
              <a:srgbClr val="48446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14713" y="3829869"/>
            <a:ext cx="1650132" cy="206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🇨🇳</a:t>
            </a:r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 China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3414713" y="4115023"/>
            <a:ext cx="2314575" cy="434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1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High-density food production under climate pressure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020023" y="3670622"/>
            <a:ext cx="2633067" cy="1038374"/>
          </a:xfrm>
          <a:prstGeom prst="roundRect">
            <a:avLst>
              <a:gd name="adj" fmla="val 2026"/>
            </a:avLst>
          </a:prstGeom>
          <a:solidFill>
            <a:srgbClr val="100C35"/>
          </a:solidFill>
          <a:ln w="19050">
            <a:solidFill>
              <a:srgbClr val="48446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179269" y="3829869"/>
            <a:ext cx="1650132" cy="206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🇧🇷</a:t>
            </a:r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 Brazil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6179269" y="4115023"/>
            <a:ext cx="2314575" cy="434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1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Tropical hydrological variability reference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2026-06-07T11:20:14Z</dcterms:created>
  <dcterms:modified xsi:type="dcterms:W3CDTF">2026-06-07T11:20:14Z</dcterms:modified>
</cp:coreProperties>
</file>